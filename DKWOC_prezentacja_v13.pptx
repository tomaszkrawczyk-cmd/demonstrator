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1417320"/>
            <a:ext cx="1234440" cy="1234440"/>
          </a:xfrm>
          <a:prstGeom prst="ellipse">
            <a:avLst/>
          </a:prstGeom>
          <a:solidFill>
            <a:srgbClr val="15525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2194" y="173827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417320"/>
            <a:ext cx="8869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3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Asystent AI do oceny zgodności</a:t>
            </a:r>
            <a:endParaRPr lang="en-US" sz="4000" dirty="0"/>
          </a:p>
          <a:p>
            <a:pPr indent="0" marL="0">
              <a:lnSpc>
                <a:spcPts val="53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systemów sztucznej inteligencji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3291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Act i RODO  ·  koncepcja dla platformy AIRON — z działającym demonstratorem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713232" y="3977640"/>
            <a:ext cx="4937760" cy="0"/>
          </a:xfrm>
          <a:prstGeom prst="line">
            <a:avLst/>
          </a:prstGeom>
          <a:noFill/>
          <a:ln w="19050">
            <a:solidFill>
              <a:srgbClr val="1F6F7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Tomasz Krawczyk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4709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żołnierz Wojsk Obrony Terytorialnej (WOT)  ·  prawnik — prawo UE, AI Act, RODO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85800" y="5852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Wideoprezentacja dla Dowództwa Komponentu Wojsk Obrony Cyberprzestrzeni (DKWOC) /</a:t>
            </a:r>
            <a:endParaRPr lang="en-US" sz="18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Centrum Implementacji Sztucznej Inteligencji (CISI)  ·  17 lipca 2026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92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65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ocena prawna nie nadąża za wdrożeniami AI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 wdrożeń rośnie szybciej niż zdolność ich prawnej weryfikacji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EEF1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88476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190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reżimy prawne naraz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226771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Act, NIS2 / ustawa o Krajowym Systemie Cyberbezpieczeństwa (KSC) oraz RODO nakładają się na każde wdrożenie.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48640" y="3218688"/>
            <a:ext cx="566928" cy="566928"/>
          </a:xfrm>
          <a:prstGeom prst="ellipse">
            <a:avLst/>
          </a:prstGeom>
          <a:solidFill>
            <a:srgbClr val="EEF1F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3366089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200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Act już obowiązuje — etapami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371600" y="37490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Zakazy od 2025 r., modele ogólnego przeznaczenia od sierpnia 2025 r., wysokie ryzyko w latach 2026–2027.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548640" y="4700016"/>
            <a:ext cx="566928" cy="566928"/>
          </a:xfrm>
          <a:prstGeom prst="ellipse">
            <a:avLst/>
          </a:prstGeom>
          <a:solidFill>
            <a:srgbClr val="EEF1F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484741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6817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Wąskie gardło kompetencyjne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1371600" y="5230368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Ocena wymaga prawa UE, znajomości technologii AI i realiów resortu. Ręczna analiza nie skaluje się.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8183880" y="187452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16192D"/>
          </a:solidFill>
          <a:ln/>
        </p:spPr>
      </p:sp>
      <p:sp>
        <p:nvSpPr>
          <p:cNvPr id="17" name="Text 12"/>
          <p:cNvSpPr/>
          <p:nvPr/>
        </p:nvSpPr>
        <p:spPr>
          <a:xfrm>
            <a:off x="836676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2 ust. 3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36676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wyłączenie obronne AI Act</a:t>
            </a:r>
            <a:endParaRPr lang="en-US" sz="18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jest automatyczne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12480" y="4343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C6C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Systemy podwójnego zastosowania i zakupy od dostawców cywilnych nadal wymagają oceny prawnej.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92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65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robi narzędzie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Ustrukturyzowana ocena zgodności zamiast rozmowy z czatem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663440" cy="2514600"/>
          </a:xfrm>
          <a:prstGeom prst="roundRect">
            <a:avLst>
              <a:gd name="adj" fmla="val 2909"/>
            </a:avLst>
          </a:prstGeom>
          <a:solidFill>
            <a:srgbClr val="4A4F6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WEJŚCIE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Opis systemu AI: przeznaczenie, kontekst użycia, dokumentacja techniczna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4068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5715000" cy="2514600"/>
          </a:xfrm>
          <a:prstGeom prst="roundRect">
            <a:avLst>
              <a:gd name="adj" fmla="val 2909"/>
            </a:avLst>
          </a:prstGeom>
          <a:solidFill>
            <a:srgbClr val="256D3A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874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WYJŚCIE — lista kontrolna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237744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7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kwalifikacja ryzyka</a:t>
            </a:r>
            <a:endParaRPr lang="en-US" sz="2100" dirty="0"/>
          </a:p>
          <a:p>
            <a:pPr marL="342900" indent="-342900">
              <a:lnSpc>
                <a:spcPts val="27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obowiązki z przepisów</a:t>
            </a:r>
            <a:endParaRPr lang="en-US" sz="2100" dirty="0"/>
          </a:p>
          <a:p>
            <a:pPr marL="342900" indent="-342900">
              <a:lnSpc>
                <a:spcPts val="27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luki — z odwołaniem do artykułu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EEF1F6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736592"/>
            <a:ext cx="457200" cy="45720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855464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53312" y="4718304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Cytowanie do artykułu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77240" y="54406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 wniosek odsyła do przepisu — wynik jest weryfikowalny.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306824" y="452628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EEF1F6"/>
          </a:solidFill>
          <a:ln/>
        </p:spPr>
      </p:sp>
      <p:sp>
        <p:nvSpPr>
          <p:cNvPr id="17" name="Shape 14"/>
          <p:cNvSpPr/>
          <p:nvPr/>
        </p:nvSpPr>
        <p:spPr>
          <a:xfrm>
            <a:off x="4535424" y="4736592"/>
            <a:ext cx="457200" cy="45720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4855464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11496" y="4718304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zgadywania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535424" y="54406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Jeśli przepisu nie ma w korpusie, narzędzie to sygnalizuje.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8065008" y="452628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EEF1F6"/>
          </a:solidFill>
          <a:ln/>
        </p:spPr>
      </p:sp>
      <p:sp>
        <p:nvSpPr>
          <p:cNvPr id="22" name="Shape 18"/>
          <p:cNvSpPr/>
          <p:nvPr/>
        </p:nvSpPr>
        <p:spPr>
          <a:xfrm>
            <a:off x="8293608" y="4736592"/>
            <a:ext cx="457200" cy="45720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85546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869680" y="4718304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Człowiek zatwierdza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293608" y="54406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Powstaje szkic oceny — decyzję podejmuje prawnik lub oficer.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92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65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Korpus wiedzy — stan na dziś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998 fragmentów w działającym demonstratorze — nie plan, stan faktyczny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32120" cy="2148840"/>
          </a:xfrm>
          <a:prstGeom prst="roundRect">
            <a:avLst>
              <a:gd name="adj" fmla="val 2979"/>
            </a:avLst>
          </a:prstGeom>
          <a:solidFill>
            <a:srgbClr val="EEF1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751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5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Act — pełny tekst urzędowy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804672" y="2606040"/>
            <a:ext cx="50200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 artykułów i wszystkie 180 motywów preambuły. Cięcie na poziomie ustępu — warunek precyzyjnego cytowania.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647688" y="1737360"/>
            <a:ext cx="5532120" cy="2148840"/>
          </a:xfrm>
          <a:prstGeom prst="roundRect">
            <a:avLst>
              <a:gd name="adj" fmla="val 2979"/>
            </a:avLst>
          </a:prstGeom>
          <a:solidFill>
            <a:srgbClr val="EEF1F6"/>
          </a:solidFill>
          <a:ln/>
        </p:spPr>
      </p:sp>
      <p:sp>
        <p:nvSpPr>
          <p:cNvPr id="10" name="Shape 7"/>
          <p:cNvSpPr/>
          <p:nvPr/>
        </p:nvSpPr>
        <p:spPr>
          <a:xfrm>
            <a:off x="6876288" y="1965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047" y="20967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6368" y="19751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5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 — pełny tekst urzędowy</a:t>
            </a:r>
            <a:endParaRPr lang="en-US" sz="2550" dirty="0"/>
          </a:p>
        </p:txBody>
      </p:sp>
      <p:sp>
        <p:nvSpPr>
          <p:cNvPr id="13" name="Text 9"/>
          <p:cNvSpPr/>
          <p:nvPr/>
        </p:nvSpPr>
        <p:spPr>
          <a:xfrm>
            <a:off x="6903720" y="2606040"/>
            <a:ext cx="50200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artykułów i 173 motywy preambuły. Stany na styku obu aktów (np. AI przetwarzające dane osobowe) analizowane równolegle.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5532120" cy="2148840"/>
          </a:xfrm>
          <a:prstGeom prst="roundRect">
            <a:avLst>
              <a:gd name="adj" fmla="val 2979"/>
            </a:avLst>
          </a:prstGeom>
          <a:solidFill>
            <a:srgbClr val="EEF1F6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434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56559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4439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5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Wytyczne Komisji Europejskiej (KE)</a:t>
            </a:r>
            <a:endParaRPr lang="en-US" sz="2550" dirty="0"/>
          </a:p>
        </p:txBody>
      </p:sp>
      <p:sp>
        <p:nvSpPr>
          <p:cNvPr id="18" name="Text 13"/>
          <p:cNvSpPr/>
          <p:nvPr/>
        </p:nvSpPr>
        <p:spPr>
          <a:xfrm>
            <a:off x="804672" y="5074920"/>
            <a:ext cx="50200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Wykładnia wyłączenia obronnego i definicja bezpieczeństwa narodowego według Trybunału Sprawiedliwości UE (TSUE).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647688" y="4206240"/>
            <a:ext cx="5532120" cy="2148840"/>
          </a:xfrm>
          <a:prstGeom prst="roundRect">
            <a:avLst>
              <a:gd name="adj" fmla="val 2979"/>
            </a:avLst>
          </a:prstGeom>
          <a:solidFill>
            <a:srgbClr val="EEF1F6"/>
          </a:solidFill>
          <a:ln/>
        </p:spPr>
      </p:sp>
      <p:sp>
        <p:nvSpPr>
          <p:cNvPr id="20" name="Shape 15"/>
          <p:cNvSpPr/>
          <p:nvPr/>
        </p:nvSpPr>
        <p:spPr>
          <a:xfrm>
            <a:off x="6876288" y="4434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047" y="456559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6368" y="44439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5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Rozszerzalność — ta sama metoda</a:t>
            </a:r>
            <a:endParaRPr lang="en-US" sz="2550" dirty="0"/>
          </a:p>
        </p:txBody>
      </p:sp>
      <p:sp>
        <p:nvSpPr>
          <p:cNvPr id="23" name="Text 17"/>
          <p:cNvSpPr/>
          <p:nvPr/>
        </p:nvSpPr>
        <p:spPr>
          <a:xfrm>
            <a:off x="6903720" y="5074920"/>
            <a:ext cx="50200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Kolejne akty tym samym procesem: NIS2/KSC, ustawa o obronie Ojczyzny, cyberoperacje.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92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65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 1: budowa bazy wiedzy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Wykonywane jednorazowo, z okresową aktualizacją korpusu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6432" cy="2697480"/>
          </a:xfrm>
          <a:prstGeom prst="roundRect">
            <a:avLst>
              <a:gd name="adj" fmla="val 2034"/>
            </a:avLst>
          </a:prstGeom>
          <a:solidFill>
            <a:srgbClr val="1F6F78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20391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Korpus aktów prawnych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94944" y="2926080"/>
            <a:ext cx="3163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50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Act, RODO, NIS2/KSC — wraz z wytycznymi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096512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WKŁAD AUTORA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87368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456432" cy="2697480"/>
          </a:xfrm>
          <a:prstGeom prst="roundRect">
            <a:avLst>
              <a:gd name="adj" fmla="val 2034"/>
            </a:avLst>
          </a:prstGeom>
          <a:solidFill>
            <a:srgbClr val="1F6F78"/>
          </a:solidFill>
          <a:ln/>
        </p:spPr>
      </p:sp>
      <p:sp>
        <p:nvSpPr>
          <p:cNvPr id="10" name="Text 8"/>
          <p:cNvSpPr/>
          <p:nvPr/>
        </p:nvSpPr>
        <p:spPr>
          <a:xfrm>
            <a:off x="4562856" y="20391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Podział na fragmenty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81144" y="2926080"/>
            <a:ext cx="3163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50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cięcie po artykule / ustępie, z metadanymi do cytowania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4096512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WKŁAD AUTORA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73568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21040" y="1783080"/>
            <a:ext cx="3456432" cy="2697480"/>
          </a:xfrm>
          <a:prstGeom prst="roundRect">
            <a:avLst>
              <a:gd name="adj" fmla="val 2034"/>
            </a:avLst>
          </a:prstGeom>
          <a:solidFill>
            <a:srgbClr val="3A4256"/>
          </a:solidFill>
          <a:ln/>
        </p:spPr>
      </p:sp>
      <p:sp>
        <p:nvSpPr>
          <p:cNvPr id="15" name="Text 13"/>
          <p:cNvSpPr/>
          <p:nvPr/>
        </p:nvSpPr>
        <p:spPr>
          <a:xfrm>
            <a:off x="8449056" y="20391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Wektoryzacja i indeksacja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67344" y="2926080"/>
            <a:ext cx="3163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50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— zamiana tekstu na wektory liczbowe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4096512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 / AIRON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11146536" cy="160020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37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Najważniejsza decyzja techniczna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Fragmenty muszą odpowiadać artykułom i ustępom, nie przypadkowej liczbie znaków. Tylko wtedy odpowiedź cytuje prawdziwy przepis, a model nie zmyśla numeru artykułu.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92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65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 2: obsługa zapytania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pytania do zweryfikowanej oceny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79192" cy="2880360"/>
          </a:xfrm>
          <a:prstGeom prst="roundRect">
            <a:avLst>
              <a:gd name="adj" fmla="val 2048"/>
            </a:avLst>
          </a:prstGeom>
          <a:solidFill>
            <a:srgbClr val="4A4F63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203911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Zapytanie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94944" y="2926080"/>
            <a:ext cx="2386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50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opis systemu AI: przeznaczenie i kontekst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7939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UŻYTKOWNIK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27832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65576" y="1783080"/>
            <a:ext cx="2679192" cy="2880360"/>
          </a:xfrm>
          <a:prstGeom prst="roundRect">
            <a:avLst>
              <a:gd name="adj" fmla="val 2048"/>
            </a:avLst>
          </a:prstGeom>
          <a:solidFill>
            <a:srgbClr val="3A4256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203911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Wyszukanie przepisów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11880" y="2926080"/>
            <a:ext cx="2386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50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dobór pasujących fragmentów (retrieval)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57016" y="427939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44768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82512" y="1783080"/>
            <a:ext cx="2679192" cy="2880360"/>
          </a:xfrm>
          <a:prstGeom prst="roundRect">
            <a:avLst>
              <a:gd name="adj" fmla="val 2048"/>
            </a:avLst>
          </a:prstGeom>
          <a:solidFill>
            <a:srgbClr val="3A4256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203911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Odpowiedź z cytowaniem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28816" y="2926080"/>
            <a:ext cx="2386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50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autora + model językowy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73952" y="427939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 + PLATFORMA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61704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299448" y="1783080"/>
            <a:ext cx="2679192" cy="2880360"/>
          </a:xfrm>
          <a:prstGeom prst="roundRect">
            <a:avLst>
              <a:gd name="adj" fmla="val 2048"/>
            </a:avLst>
          </a:prstGeom>
          <a:solidFill>
            <a:srgbClr val="9A6A13"/>
          </a:solidFill>
          <a:ln/>
        </p:spPr>
      </p:sp>
      <p:sp>
        <p:nvSpPr>
          <p:cNvPr id="20" name="Text 18"/>
          <p:cNvSpPr/>
          <p:nvPr/>
        </p:nvSpPr>
        <p:spPr>
          <a:xfrm>
            <a:off x="9427464" y="203911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Walidacja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445752" y="2926080"/>
            <a:ext cx="2386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50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zatwierdzenie szkicu przez człowieka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90888" y="427939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CZŁOWIEK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11146536" cy="1417320"/>
          </a:xfrm>
          <a:prstGeom prst="roundRect">
            <a:avLst>
              <a:gd name="adj" fmla="val 4516"/>
            </a:avLst>
          </a:prstGeom>
          <a:solidFill>
            <a:srgbClr val="EEF1F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1023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Modele: dobór po stronie CISI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22960" y="555955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Rozwiązanie jest modelowo-agnostyczne — demonstrator testowany m.in. na modelu gpt-oss-120b, z porównaniem dwóch modeli na tych samych przepisach. O jakości bardziej decyduje korpus i wyszukiwanie niż wybór modelu.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92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65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Podział odpowiedzialności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buduję silnika AI — wnoszę warstwę prawną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1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0628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 (AIRON)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900"/>
              </a:lnSpc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dostęp do modeli językowych</a:t>
            </a:r>
            <a:endParaRPr lang="en-US" sz="2200" dirty="0"/>
          </a:p>
          <a:p>
            <a:pPr marL="342900" indent="-342900">
              <a:lnSpc>
                <a:spcPts val="2900"/>
              </a:lnSpc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— wyszukiwanie semantyczne</a:t>
            </a:r>
            <a:endParaRPr lang="en-US" sz="2200" dirty="0"/>
          </a:p>
          <a:p>
            <a:pPr marL="342900" indent="-342900">
              <a:lnSpc>
                <a:spcPts val="2900"/>
              </a:lnSpc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infrastruktura i hosting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355080" y="1810512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6192D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1920240"/>
            <a:ext cx="548640" cy="548640"/>
          </a:xfrm>
          <a:prstGeom prst="ellipse">
            <a:avLst/>
          </a:prstGeom>
          <a:solidFill>
            <a:srgbClr val="15525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046" y="20628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011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Mój wkład (autor)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675120" y="29718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korpus aktów prawnych — kuracja i aktualizacja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oceny — prompt systemowy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wyszukiwanie — dostrajam je pod tekst prawny; potrafię też zbudować je sam (dowód: demonstrator)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b="1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pełna odpowiedzialność za walidację prawną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548640" y="6172200"/>
            <a:ext cx="11146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i="1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Wniosek: koszt i ryzyko techniczne po stronie resortu są niskie — projekt wykorzystuje zdolność, którą platforma AIRON udostępnia (dedykowane chatboty RAG).</a:t>
            </a:r>
            <a:endParaRPr lang="en-US" sz="2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92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65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Zasady projektowe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 to nadaje się do zastosowania prawnego w resorcie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21792" cy="621792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1853306"/>
            <a:ext cx="298460" cy="298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9888" y="167335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Cytowanie i brak zgadywania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89888" y="253288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Każda teza odsyła do przepisu, z rozróżnieniem normy, wykładni i niewiążącej interpretacji. Brak podstawy w bazie system komunikuje wprost, zamiast zmyślać.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55080" y="1691640"/>
            <a:ext cx="621792" cy="621792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746" y="1853306"/>
            <a:ext cx="298460" cy="298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96328" y="167335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/ on-premise od projektu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7196328" y="253288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Żadne dane nie opuszczają środowiska resortu — zgodne z ochroną informacji jako podstawowym ograniczeniem wdrożeń AI w wojsku.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621792" cy="621792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6" y="4230746"/>
            <a:ext cx="298460" cy="298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9888" y="40507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Modelowa niezależność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1389888" y="491032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Przenośne między modelami uruchamianymi lokalnie. Brak uzależnienia od jednego dostawcy technologii.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355080" y="4069080"/>
            <a:ext cx="621792" cy="621792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746" y="4230746"/>
            <a:ext cx="298460" cy="298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96328" y="40507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Człowiek w pętli decyzyjnej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7196328" y="491032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Narzędzie przygotowuje szkic. Decyzję i odpowiedzialność zawsze zachowuje prawnik lub oficer.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92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65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Dowód metody: działający demonstrator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Zbudowany na to spotkanie i wdrożony publicznie — za chwilę pokaz na żywo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EEF1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0171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57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Demonstrator AI Act + RODO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5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pełne teksty urzędowe obu aktów — 998 fragmentów</a:t>
            </a:r>
            <a:endParaRPr lang="en-US" sz="1900" dirty="0"/>
          </a:p>
          <a:p>
            <a:pPr marL="342900" indent="-342900">
              <a:lnSpc>
                <a:spcPts val="25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cytowanie z hierarchią źródeł; prostuje błędne założenia w pytaniu</a:t>
            </a:r>
            <a:endParaRPr lang="en-US" sz="1900" dirty="0"/>
          </a:p>
          <a:p>
            <a:pPr marL="342900" indent="-342900">
              <a:lnSpc>
                <a:spcPts val="25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b="1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wdrożony publicznie, dostępny pod adresem z ostatniego slajdu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5623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i="1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cywilne pierwowzory metody: foodlaw.ai · supplemental.pl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55080" y="1810512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6192D"/>
          </a:solidFill>
          <a:ln/>
        </p:spPr>
      </p:sp>
      <p:sp>
        <p:nvSpPr>
          <p:cNvPr id="11" name="Shape 8"/>
          <p:cNvSpPr/>
          <p:nvPr/>
        </p:nvSpPr>
        <p:spPr>
          <a:xfrm>
            <a:off x="6629400" y="1874520"/>
            <a:ext cx="548640" cy="548640"/>
          </a:xfrm>
          <a:prstGeom prst="ellipse">
            <a:avLst/>
          </a:prstGeom>
          <a:solidFill>
            <a:srgbClr val="15525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046" y="201716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057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Doświadczenie wojskowe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675120" y="29260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5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zaprojektowałem i wdrożyłem w jednostce asystenty konwersacyjne na autorskich promptach systemowych</a:t>
            </a:r>
            <a:endParaRPr lang="en-US" sz="1900" dirty="0"/>
          </a:p>
          <a:p>
            <a:pPr marL="342900" indent="-342900">
              <a:lnSpc>
                <a:spcPts val="25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działają offline, na modelu lokalnym — bez dostępu do chmury</a:t>
            </a:r>
            <a:endParaRPr lang="en-US" sz="1900" dirty="0"/>
          </a:p>
          <a:p>
            <a:pPr marL="342900" indent="-342900">
              <a:lnSpc>
                <a:spcPts val="25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i="1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szczegóły — do omówienia w trybie właściwym dla informacji wrażliwych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92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65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Proponowana ścieżka pilotażu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Cztery kroki do działającego prototypu w Inkubatorze Projektów AI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566160"/>
          </a:xfrm>
          <a:prstGeom prst="roundRect">
            <a:avLst>
              <a:gd name="adj" fmla="val 2456"/>
            </a:avLst>
          </a:prstGeom>
          <a:solidFill>
            <a:srgbClr val="EEF1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444752" y="2048256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Korpus i logika oceny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Kuracja aktów i podział na fragmenty; prompt z hierarchią źródeł.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48280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F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wykonane dla AI Act i RODO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92424" y="1783080"/>
            <a:ext cx="2606040" cy="3566160"/>
          </a:xfrm>
          <a:prstGeom prst="roundRect">
            <a:avLst>
              <a:gd name="adj" fmla="val 2456"/>
            </a:avLst>
          </a:prstGeom>
          <a:solidFill>
            <a:srgbClr val="EEF1F6"/>
          </a:solidFill>
          <a:ln/>
        </p:spPr>
      </p:sp>
      <p:sp>
        <p:nvSpPr>
          <p:cNvPr id="11" name="Shape 9"/>
          <p:cNvSpPr/>
          <p:nvPr/>
        </p:nvSpPr>
        <p:spPr>
          <a:xfrm>
            <a:off x="3621024" y="2011680"/>
            <a:ext cx="548640" cy="54864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288536" y="2048256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Konfiguracja na AIRON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21024" y="306324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Osadzenie korpusu w chatbocie — wspólnie z zespołem CISI.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21024" y="48280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F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orientacyjnie 1–2 tygodnie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36208" y="1783080"/>
            <a:ext cx="2606040" cy="3566160"/>
          </a:xfrm>
          <a:prstGeom prst="roundRect">
            <a:avLst>
              <a:gd name="adj" fmla="val 2456"/>
            </a:avLst>
          </a:prstGeom>
          <a:solidFill>
            <a:srgbClr val="EEF1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64808" y="2011680"/>
            <a:ext cx="548640" cy="54864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7132320" y="2048256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Walidacja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64808" y="306324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Testy na znanych przypadkach o ustalonej kwalifikacji.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64808" y="48280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F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orientacyjnie 2–3 tygodnie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079992" y="1783080"/>
            <a:ext cx="2606040" cy="3566160"/>
          </a:xfrm>
          <a:prstGeom prst="roundRect">
            <a:avLst>
              <a:gd name="adj" fmla="val 2456"/>
            </a:avLst>
          </a:prstGeom>
          <a:solidFill>
            <a:srgbClr val="EEF1F6"/>
          </a:solidFill>
          <a:ln/>
        </p:spPr>
      </p:sp>
      <p:sp>
        <p:nvSpPr>
          <p:cNvPr id="23" name="Shape 21"/>
          <p:cNvSpPr/>
          <p:nvPr/>
        </p:nvSpPr>
        <p:spPr>
          <a:xfrm>
            <a:off x="9308592" y="2011680"/>
            <a:ext cx="548640" cy="54864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24" name="Text 22"/>
          <p:cNvSpPr/>
          <p:nvPr/>
        </p:nvSpPr>
        <p:spPr>
          <a:xfrm>
            <a:off x="930859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9976104" y="2048256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Pilotaż w Inkubatorze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308592" y="306324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Udostępnienie wybranym komórkom, decyzja o rozwoju.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308592" y="48280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F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decyzja CISI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48640" y="5623560"/>
            <a:ext cx="11146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50" i="1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Docelowy kierunek rozwoju: ta sama metoda dla kolejnych aktów — ustawa o obronie Ojczyzny, zamówienia publiczne w obronności, ochrona informacji niejawnych.</a:t>
            </a:r>
            <a:endParaRPr lang="en-US" sz="2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92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65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Pytania do zespołu CISI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oczekuję odpowiedzi na spotkaniu — to kwestie istotne dla dalszej realizacji projektu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" cy="530352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920972"/>
            <a:ext cx="254569" cy="2545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737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a polszczyzna prawnicza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298448" y="213969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5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to zamiana tekstu na wektory liczbowe do wyszukiwania. Jaki model embeddingu jest dostępny i jak radzi sobie z polską terminologią prawną?</a:t>
            </a:r>
            <a:endParaRPr lang="en-US" sz="205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530352" cy="530352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2" y="3109692"/>
            <a:ext cx="254569" cy="2545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926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i podział dokumentów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1298448" y="332841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5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wyszukiwanie (retrieval) łączy dopasowanie znaczeniowe ze słowami kluczowymi? Czy mam wpływ na podział dokumentów na fragmenty?</a:t>
            </a:r>
            <a:endParaRPr lang="en-US" sz="2050" dirty="0"/>
          </a:p>
        </p:txBody>
      </p:sp>
      <p:sp>
        <p:nvSpPr>
          <p:cNvPr id="12" name="Shape 8"/>
          <p:cNvSpPr/>
          <p:nvPr/>
        </p:nvSpPr>
        <p:spPr>
          <a:xfrm>
            <a:off x="548640" y="4160520"/>
            <a:ext cx="530352" cy="530352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32" y="4298412"/>
            <a:ext cx="254569" cy="2545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4114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Dostęp API do modeli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1298448" y="451713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5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dostępny jest interfejs programistyczny (API) do modeli, czy wyłącznie okno czatu? API pozwoliłoby podłączyć demonstrator bez zmian w kodzie.</a:t>
            </a:r>
            <a:endParaRPr lang="en-US" sz="2050" dirty="0"/>
          </a:p>
        </p:txBody>
      </p:sp>
      <p:sp>
        <p:nvSpPr>
          <p:cNvPr id="16" name="Shape 11"/>
          <p:cNvSpPr/>
          <p:nvPr/>
        </p:nvSpPr>
        <p:spPr>
          <a:xfrm>
            <a:off x="548640" y="5349240"/>
            <a:ext cx="530352" cy="530352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32" y="5487132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53035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9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Tryb współpracy i dostępu</a:t>
            </a:r>
            <a:endParaRPr lang="en-US" sz="2700" dirty="0"/>
          </a:p>
        </p:txBody>
      </p:sp>
      <p:sp>
        <p:nvSpPr>
          <p:cNvPr id="19" name="Text 13"/>
          <p:cNvSpPr/>
          <p:nvPr/>
        </p:nvSpPr>
        <p:spPr>
          <a:xfrm>
            <a:off x="1298448" y="570585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5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 ścieżka jest właściwa: praca w Inkubatorze, dostęp do środowiska testowego, czy przekazanie korpusu zespołowi CISI?</a:t>
            </a:r>
            <a:endParaRPr lang="en-US" sz="2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Dziękuję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85800" y="2468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Warstwa prawna dla AIRON z działającym demonstratorem (AI Act + RODO): korpus, logika oceny i walidacja na infrastrukturze, którą resort już posiada.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" y="3703320"/>
            <a:ext cx="4937760" cy="0"/>
          </a:xfrm>
          <a:prstGeom prst="line">
            <a:avLst/>
          </a:prstGeom>
          <a:noFill/>
          <a:ln w="19050">
            <a:solidFill>
              <a:srgbClr val="1F6F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Tomasz Krawczyk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5079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448056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tomaszkrawczyk@supplemental.pl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910328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488289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+48 608 699 845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1266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5568" y="528523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www.foodlaw.ai  ·  www.supplemental.pl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715000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568" y="568756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demonstrator: tomaszkrawczyk-cmd.github.io/Demonstrator/demo.html</a:t>
            </a:r>
            <a:endParaRPr lang="en-US" sz="1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6117336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15568" y="608990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źródłowy: github.com/tomaszkrawczyk-cmd/Demonstrator</a:t>
            </a:r>
            <a:endParaRPr lang="en-US" sz="1700" dirty="0"/>
          </a:p>
        </p:txBody>
      </p:sp>
      <p:sp>
        <p:nvSpPr>
          <p:cNvPr id="16" name="Shape 9"/>
          <p:cNvSpPr/>
          <p:nvPr/>
        </p:nvSpPr>
        <p:spPr>
          <a:xfrm>
            <a:off x="9692640" y="4206240"/>
            <a:ext cx="1463040" cy="1463040"/>
          </a:xfrm>
          <a:prstGeom prst="ellipse">
            <a:avLst/>
          </a:prstGeom>
          <a:solidFill>
            <a:srgbClr val="155259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3030" y="4586630"/>
            <a:ext cx="702259" cy="7022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2026-07-16T13:11:01Z</dcterms:created>
  <dcterms:modified xsi:type="dcterms:W3CDTF">2026-07-16T13:11:01Z</dcterms:modified>
</cp:coreProperties>
</file>